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1280160"/>
            <a:ext cx="8997696" cy="731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304" y="2560320"/>
            <a:ext cx="8997696" cy="731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6304" y="3840480"/>
            <a:ext cx="8997696" cy="731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9184" y="292608"/>
            <a:ext cx="4114800" cy="2926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Analytics  ·  Université Paris 1 Panthéon-Sorbonne  ·  Projet Machine Learning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" y="7498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Prédictive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9184" y="13898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Moteurs Turbofan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9184" y="22128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les données peuvent éviter une catastrophe aérienne.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" y="2724912"/>
            <a:ext cx="36576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" y="2999232"/>
            <a:ext cx="8503920" cy="18105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127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519 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24328" y="3182112"/>
            <a:ext cx="27432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3127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715768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15768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simulation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45736" y="3182112"/>
            <a:ext cx="27432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3127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837176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NASA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67144" y="3182112"/>
            <a:ext cx="27432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3127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10 904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58584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58584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compétitif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LE PROBLÈME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moteur d'avion se dégrade — mais personne ne sait quand il va lâcher.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521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deux stratégies existent. Toutes les deux sont imparfaites.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" y="1572768"/>
            <a:ext cx="4096512" cy="20848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" y="1572768"/>
            <a:ext cx="409651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1719072"/>
            <a:ext cx="347472" cy="34747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3544" y="1737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corrective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3544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répare après la panne.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45059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sécurité maximal.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d'une panne en vol = 10× une maintenance programmée.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1572768"/>
            <a:ext cx="4096512" cy="20848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1572768"/>
            <a:ext cx="409651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9744" y="1719072"/>
            <a:ext cx="347472" cy="3474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66944" y="1737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préventive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change à intervalles fixes.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5464" y="245059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retire des moteurs encore sains.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des maintenances sont prématurées — coût inutile.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" y="3794760"/>
            <a:ext cx="8503920" cy="10241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58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12848" y="38587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exactement combien de cycles reste à un moteur avant sa panne — le 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(Remaining Useful Life)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4251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intervenir au bon moment.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LE DATASET — NASA C-MAPSS FD002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travaillons sur une simulation NASA de moteurs turbofan dégradés jusqu'à la panne.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115568"/>
            <a:ext cx="4114800" cy="363931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115568"/>
            <a:ext cx="4114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07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C-MAPSS FD002 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" y="1645920"/>
            <a:ext cx="41148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moteurs simulés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59152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mise en service jusqu'à la panne réelle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" y="2139696"/>
            <a:ext cx="41148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231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conditions de vol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59152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altitude, vitesse, régime — simultanément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" y="2633472"/>
            <a:ext cx="41148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capteurs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5915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température, pression, débit d'air, RPM…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" y="3127248"/>
            <a:ext cx="41148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53 759 lignes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59152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= 1 moteur à 1 cycle donné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" y="3621024"/>
            <a:ext cx="41148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valeurs RUL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59152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NASA pour évaluation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115568"/>
            <a:ext cx="4160520" cy="363931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15568"/>
            <a:ext cx="416052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FD002 est le plus difficile 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28032" y="1664208"/>
            <a:ext cx="3840480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1682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FD001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1 condition de vol   →   Simple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FD002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6 conditions de vol  →   Réaliste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230428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conditions simultanées rendent la dégradation beaucoup plus difficile à isoler. C'est exactement le cas réel d'un avion commercial.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28032" y="3200400"/>
            <a:ext cx="384048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33101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académique et industrielle standard pour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des algorithmes de pronostic de pannes.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28032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Saxena et al., PHM 2008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CE QUE LES DONNÉES NOUS DISENT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moteur a sa propre courbe de vie — c'est ça, notre signal de dégradation.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78992"/>
            <a:ext cx="4133088" cy="37673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078992"/>
            <a:ext cx="4133088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durées de vie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63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à 378 cycles  ·  moy. 207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19072"/>
            <a:ext cx="4059936" cy="2926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1078992"/>
            <a:ext cx="4160520" cy="37673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78992"/>
            <a:ext cx="416052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/>
          <p:nvPr/>
        </p:nvSpPr>
        <p:spPr>
          <a:xfrm>
            <a:off x="4828032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dégradation du capteur s_15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28032" y="1463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couleur = un moteur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719072"/>
            <a:ext cx="408736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NOTRE APPROCHE — PIPELINE END-TO-END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étapes, de la donnée brute à la décision de maintenance.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97280"/>
            <a:ext cx="20116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9933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FD002 · 519K lignes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colonnes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04288" y="18470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109728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97280"/>
            <a:ext cx="2011680" cy="36576"/>
          </a:xfrm>
          <a:prstGeom prst="rect">
            <a:avLst/>
          </a:prstGeom>
          <a:solidFill>
            <a:srgbClr val="5BA4CF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4C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60320" y="19933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3×IQR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data leakage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18470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45152" y="109728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097280"/>
            <a:ext cx="201168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36592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36592" y="19933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+ Cap 125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5c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56832" y="18470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21424" y="109728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1424" y="1097280"/>
            <a:ext cx="201168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6821424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12864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12864" y="19933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features finales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2608" y="310896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108960"/>
            <a:ext cx="20116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4048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Baseline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84048" y="4005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arbres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04288" y="385876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468880" y="310896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68880" y="3108960"/>
            <a:ext cx="20116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246888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56032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560320" y="4005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estimateurs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80560" y="385876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45152" y="310896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3108960"/>
            <a:ext cx="20116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3" name="Text 41"/>
          <p:cNvSpPr/>
          <p:nvPr/>
        </p:nvSpPr>
        <p:spPr>
          <a:xfrm>
            <a:off x="4645152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736592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736592" y="4005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RMSE·MAE·R²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5-fold·NASA Score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56832" y="385876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821424" y="3108960"/>
            <a:ext cx="201168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21424" y="3108960"/>
            <a:ext cx="20116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Text 47"/>
          <p:cNvSpPr/>
          <p:nvPr/>
        </p:nvSpPr>
        <p:spPr>
          <a:xfrm>
            <a:off x="6821424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912864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Dashboard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912864" y="4005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risque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FEATURE ENGINEERING — PRÉPARER LE SIGNAL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décisions cruciales qui font la différence entre un modèle médiocre et un modèle performant.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" y="1115568"/>
            <a:ext cx="2743200" cy="36576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115568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126187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RUL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" y="1755648"/>
            <a:ext cx="2414016" cy="34747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75564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 = cycle_max − cycle_actuel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" y="21945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2450592"/>
            <a:ext cx="2414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reçoit son nombre de cycles restants avant panne. Sans ce calcul, le modèle n'a pas de cible.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" y="3529584"/>
            <a:ext cx="2414016" cy="237744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5478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du dataset a maintenant un label numérique à prédire.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36976" y="1115568"/>
            <a:ext cx="2743200" cy="36576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36976" y="1115568"/>
            <a:ext cx="27432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Shape 17"/>
          <p:cNvSpPr/>
          <p:nvPr/>
        </p:nvSpPr>
        <p:spPr>
          <a:xfrm>
            <a:off x="3401568" y="1261872"/>
            <a:ext cx="384048" cy="38404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0" name="Text 18"/>
          <p:cNvSpPr/>
          <p:nvPr/>
        </p:nvSpPr>
        <p:spPr>
          <a:xfrm>
            <a:off x="340156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95344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Cap à 125 cycles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01568" y="1755648"/>
            <a:ext cx="2414016" cy="34747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3" name="Text 21"/>
          <p:cNvSpPr/>
          <p:nvPr/>
        </p:nvSpPr>
        <p:spPr>
          <a:xfrm>
            <a:off x="3438144" y="175564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RUL_final = min(RUL, 125)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01568" y="21945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01568" y="2450592"/>
            <a:ext cx="2414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moteur neuf à 300 cycles restants ressemble exactement à un à 250 cycles — les capteurs ne montrent rien. En plafonnant à 125, on force le modèle à se concentrer sur la phase de dégradation réelle.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01568" y="3529584"/>
            <a:ext cx="2414016" cy="237744"/>
          </a:xfrm>
          <a:prstGeom prst="rect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38144" y="35478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: Saxena et al., PHM 2008. Améliore RMSE de ~15%.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44768" y="1115568"/>
            <a:ext cx="2743200" cy="36576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1115568"/>
            <a:ext cx="27432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1261872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03136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5 cycles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1755648"/>
            <a:ext cx="2414016" cy="34747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4" name="Text 32"/>
          <p:cNvSpPr/>
          <p:nvPr/>
        </p:nvSpPr>
        <p:spPr>
          <a:xfrm>
            <a:off x="6345936" y="175564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signal_lissé = rolling(5, min_periods=1).mean()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21945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2450592"/>
            <a:ext cx="2414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capteurs industriels sont bruités. Sans lissage, le modèle apprend du bruit, pas de la tendance. La moyenne glissante révèle la dégradation progressive.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529584"/>
            <a:ext cx="2414016" cy="237744"/>
          </a:xfrm>
          <a:prstGeom prst="rect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35478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 features lissées. Les rolling features entrent dans le Top 5 SHAP.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" y="4828032"/>
            <a:ext cx="8503920" cy="2743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" y="48280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 : 41 features  (19 capteurs bruts + 19 rolling mean + 3 paramètres opérationnels)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MODÉLISATION — DEUX APPROCHES COMPARÉES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construit d'abord un modèle de référence, puis on l'améliore.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78992"/>
            <a:ext cx="4133088" cy="318211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078992"/>
            <a:ext cx="4133088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" y="1078992"/>
            <a:ext cx="2011680" cy="3291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078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767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arbres de décision construits en parallèle sur des sous-échantillons aléatoires. La prédiction finale est la moyenne des 100 arbres — le hasard réduit l'overfitting.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3767328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4553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: 20.03  ·  MAE : 15.07  ·  R² : 0.767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60520" cy="318211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78992"/>
            <a:ext cx="416052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078992"/>
            <a:ext cx="201168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78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FINAL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28032" y="1993392"/>
            <a:ext cx="3767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arbres construits en séquence. Chaque arbre corrige les erreurs de l'arbre précédent (boosting). Plus lent à entraîner, mais systématiquement plus précis sur les données tabulaires.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28032" y="3035808"/>
            <a:ext cx="3767328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14553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: 19.51  ·  MAE : 14.38  ·  R² : 0.779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" y="4370832"/>
            <a:ext cx="8503920" cy="4754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4256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09928" y="4425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parallèle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14016" y="44256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séquence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44256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4425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(moyenne)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44256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(correction)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08192" y="44256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42632" y="4425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Robuste, rapide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4256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précis, SHAP natif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RÉSULTATS — RANDOM FOREST VS XGBOOST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améliore le Random Forest sur toutes les métriques.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78992"/>
            <a:ext cx="850392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vert = le meilleur modèle sur cette métrique. Le % indiqué est le gain XGBoost vs Random Forest.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ÉVALUATION — TROIS NIVEAUX DE VALIDATION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score ne suffit pas. On valide le modèle sur trois axes complémentaires.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" y="1115568"/>
            <a:ext cx="2743200" cy="27432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115568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1261872"/>
            <a:ext cx="329184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" y="1719072"/>
            <a:ext cx="2414016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19072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19.51 cycles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" y="2194560"/>
            <a:ext cx="2414016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19072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14.38 cycles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" y="2670048"/>
            <a:ext cx="2414016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19072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" y="318211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sur 20% des données d'entraînement non vues pendant le fit.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36976" y="1115568"/>
            <a:ext cx="2743200" cy="27432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36976" y="1115568"/>
            <a:ext cx="27432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401568" y="1261872"/>
            <a:ext cx="329184" cy="32918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Text 22"/>
          <p:cNvSpPr/>
          <p:nvPr/>
        </p:nvSpPr>
        <p:spPr>
          <a:xfrm>
            <a:off x="3401568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test NASA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01568" y="1719072"/>
            <a:ext cx="2414016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26864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28.90 cycles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01568" y="2194560"/>
            <a:ext cx="2414016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26864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20.25 cycles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01568" y="2670048"/>
            <a:ext cx="2414016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3" name="Text 31"/>
          <p:cNvSpPr/>
          <p:nvPr/>
        </p:nvSpPr>
        <p:spPr>
          <a:xfrm>
            <a:off x="3493008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26864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01568" y="318211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fourni par la NASA pour 259 moteurs. Le gap validation/test est attendu sur FD002.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1115568"/>
            <a:ext cx="2743200" cy="27432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1115568"/>
            <a:ext cx="27432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1261872"/>
            <a:ext cx="329184" cy="3291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48272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Score PHM 2008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1719072"/>
            <a:ext cx="2414016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534656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10 904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2194560"/>
            <a:ext cx="2414016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compétitif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34656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50 000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2670048"/>
            <a:ext cx="2414016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faible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534656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50 000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9360" y="318211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asymétrique officielle : prédire trop tard (danger) est plus pénalisé que trop tôt.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" y="3950208"/>
            <a:ext cx="8503920" cy="89611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9184" y="3950208"/>
            <a:ext cx="850392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du modèle — Cross-Validation 5-Fold 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par fold : 19.56  ·  19.22  ·  19.35  ·  19.29  ·  19.48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19.38 ± 0.12 cycles  →  Écart-type très faible = modèle stable et généralisable, pas chanceux.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STABILITÉ — CROSS-VALIDATION 5-FOLD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obtient le même score sur chaque partition des données. Il n'a pas appris par cœur.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78992"/>
            <a:ext cx="8503920" cy="3547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184" y="4709160"/>
            <a:ext cx="2743200" cy="38404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9184" y="4709160"/>
            <a:ext cx="27432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Écart-type de 0.12 — Le score varie de seulement 0.12 cycle d'un fold à l'autre — preuve de robustesse.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36976" y="4709160"/>
            <a:ext cx="2743200" cy="38404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36976" y="470916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3374136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d'overfitting — Si le modèle avait mémorisé les données, on verrait un écart bien plus grand entre les folds.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44768" y="4709160"/>
            <a:ext cx="2743200" cy="38404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44768" y="4709160"/>
            <a:ext cx="27432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/>
          <p:nvPr/>
        </p:nvSpPr>
        <p:spPr>
          <a:xfrm>
            <a:off x="6281928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Généralisable — Ces résultats se reproduiront sur de nouveaux moteurs non vus lors de l'entraînement.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RÉSULTATS VISUELS — RUL PRÉDIT VS RUL RÉEL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moteur. Plus les points sont proches de la diagonale, meilleur est le modèle.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78992"/>
            <a:ext cx="5669280" cy="3913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170432"/>
            <a:ext cx="265176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72200" y="1170432"/>
            <a:ext cx="265176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6327648" y="12618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&lt; 15 cycles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27648" y="157276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prédit avec une précision de moins de 15 cycles pour la majorité des moteurs.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72200" y="2432304"/>
            <a:ext cx="265176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432304"/>
            <a:ext cx="265176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0"/>
          <p:cNvSpPr/>
          <p:nvPr/>
        </p:nvSpPr>
        <p:spPr>
          <a:xfrm>
            <a:off x="6327648" y="25237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15-30 cycles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27648" y="283464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d'incertitude. Le modèle est prudent — il anticipe sans certitude totale.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72200" y="3694176"/>
            <a:ext cx="265176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3694176"/>
            <a:ext cx="265176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7" name="Text 14"/>
          <p:cNvSpPr/>
          <p:nvPr/>
        </p:nvSpPr>
        <p:spPr>
          <a:xfrm>
            <a:off x="6327648" y="378561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&gt; 30 cycles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27648" y="4096512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difficiles — souvent des moteurs en début de vie où la dégradation est imperceptible.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INTERPRÉTABILITÉ — OUVRIR LA BOÎTE NOIRE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bon modèle n'est pas seulement précis — il doit être explicable.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calcule la contribution exacte de chaque capteur à chaque prédiction.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" y="1572768"/>
            <a:ext cx="2743200" cy="166420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" y="1572768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▌▌▌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" y="224028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57860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capteurs comptent le plus en moyenne sur l'ensemble du dataset 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36976" y="1572768"/>
            <a:ext cx="2743200" cy="166420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1572768"/>
            <a:ext cx="27432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3236976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•••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01568" y="224028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57860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sens chaque capteur influence-t-il la prédiction ? Rouge = élevé, Bleu = bas.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44768" y="1572768"/>
            <a:ext cx="2743200" cy="166420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572768"/>
            <a:ext cx="274320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⬇⬇⬇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24028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57860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moteur précis a-t-il été prédit CRITIQUE ? Décomposition capteur par capteur.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" y="3364992"/>
            <a:ext cx="8503920" cy="148132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" y="3364992"/>
            <a:ext cx="45720" cy="14813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38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essentiel dans un contexte industriel 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7673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ingénieur de maintenance ne fera jamais confiance à un modèle qu'il ne comprend pas. SHAP transforme une sortie numérique opaque ("RUL = 8 cycles") en une explication métier actionnable ("le capteur s_15 est anormalement élevé depuis 10 cycles — c'est lui qui déclenche l'alerte").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SHAP — QUELS CAPTEURS COMPTENT LE PLUS ?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s_15 est de loin le capteur le plus prédictif — 3× plus important que le deuxième.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78992"/>
            <a:ext cx="6053328" cy="3913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65392" y="1078992"/>
            <a:ext cx="2377440" cy="11704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65392" y="1078992"/>
            <a:ext cx="23774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6702552" y="1170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s_15 domine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02552" y="148132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moyen 11.4 — presque 3× plus que s_11 (7.85). Signal de dégradation thermique clé.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65392" y="2395728"/>
            <a:ext cx="2377440" cy="11704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2395728"/>
            <a:ext cx="237744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/>
          <p:nvPr/>
        </p:nvSpPr>
        <p:spPr>
          <a:xfrm>
            <a:off x="6702552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= utile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02552" y="279806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s_15_roll5 en position 6 confirme : le lissage capture la tendance longue que le bruit masque.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65392" y="3703320"/>
            <a:ext cx="2377440" cy="11704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65392" y="3703320"/>
            <a:ext cx="237744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4"/>
          <p:cNvSpPr/>
          <p:nvPr/>
        </p:nvSpPr>
        <p:spPr>
          <a:xfrm>
            <a:off x="6702552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= 75%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702552" y="41056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s_15, s_11, s_13, s_4, s_12 concentrent l'essentiel du pouvoir prédictif du modèle.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SHAP — DANS QUEL SENS CHAQUE CAPTEUR INFLUENCE-T-IL ?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= valeur élevée du capteur  ·  Bleu = valeur basse  ·  Position = impact sur le RUL prédit.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78992"/>
            <a:ext cx="6053328" cy="3913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65392" y="1078992"/>
            <a:ext cx="2377440" cy="11704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65392" y="1078992"/>
            <a:ext cx="237744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6"/>
          <p:cNvSpPr/>
          <p:nvPr/>
        </p:nvSpPr>
        <p:spPr>
          <a:xfrm>
            <a:off x="6702552" y="1170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= danger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02552" y="148132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s_15 rouge à gauche : quand sa valeur monte, le RUL chute. Signe classique de dégradation thermique.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65392" y="2395728"/>
            <a:ext cx="2377440" cy="11704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2395728"/>
            <a:ext cx="23774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0"/>
          <p:cNvSpPr/>
          <p:nvPr/>
        </p:nvSpPr>
        <p:spPr>
          <a:xfrm>
            <a:off x="6702552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basses = sain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02552" y="279806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bleus à droite : un capteur avec une valeur basse contribue à augmenter le RUL prédit.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65392" y="3703320"/>
            <a:ext cx="2377440" cy="11704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65392" y="3703320"/>
            <a:ext cx="237744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4"/>
          <p:cNvSpPr/>
          <p:nvPr/>
        </p:nvSpPr>
        <p:spPr>
          <a:xfrm>
            <a:off x="6702552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= 500 pts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702552" y="41056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est une prédiction. La dispersion montre la variabilité des moteurs dans le dataset.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SHAP — AUTOPSIE D'UN MOTEUR CRITIQUE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N°102 — RUL prédit : 0.8 cycles — Pourquoi ?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97280"/>
            <a:ext cx="6053328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65392" y="1097280"/>
            <a:ext cx="2377440" cy="960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65392" y="1097280"/>
            <a:ext cx="23774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11887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20840" y="14630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E[f(X)] = 86.9 cycles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capteurs ne déviaient pas, le modèle prédirait 86.9.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65392" y="2176272"/>
            <a:ext cx="2377440" cy="960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2176272"/>
            <a:ext cx="237744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22677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s_15 : −27 cycles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2542032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capteur le plus critique tire le RUL vers le bas de 27 cycles à lui seul.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65392" y="3255264"/>
            <a:ext cx="2377440" cy="960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65392" y="3255264"/>
            <a:ext cx="237744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33467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 signaux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20840" y="3621024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s_11 (−11), s_4 (−11), s_13_roll5 (−7)… chaque capteur ajoute son signal d'alarme.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65392" y="4334256"/>
            <a:ext cx="2377440" cy="6400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65392" y="4334256"/>
            <a:ext cx="237744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1" name="Text 18"/>
          <p:cNvSpPr/>
          <p:nvPr/>
        </p:nvSpPr>
        <p:spPr>
          <a:xfrm>
            <a:off x="6720840" y="442569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f(x) = 0.8 cycles  →  ARRÊT IMMÉDIAT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DASHBOARD — DE LA PRÉDICTION À L'ACTION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259 moteurs du test set classifiés en 3 niveaux d'urgence actionnables.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78992"/>
            <a:ext cx="2743200" cy="2395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078992"/>
            <a:ext cx="274320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152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" y="16916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≤ 30 cycles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19933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moteurs (15%)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2304288"/>
            <a:ext cx="2414016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377440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immédiat avant le prochain vol.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d'urgence obligatoire.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36976" y="1078992"/>
            <a:ext cx="2743200" cy="2395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078992"/>
            <a:ext cx="27432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1152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01568" y="16916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&lt; RUL ≤ 80 cycles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19933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 moteurs (25%)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01568" y="2304288"/>
            <a:ext cx="2414016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2377440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maintenance sous 5 vols.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renforcée des capteurs.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1078992"/>
            <a:ext cx="2743200" cy="2395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78992"/>
            <a:ext cx="27432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1152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16916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&gt; 80 cycles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9933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~156 moteurs (60%)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304288"/>
            <a:ext cx="2414016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377440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normal.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intervention à court terme.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" y="3584448"/>
            <a:ext cx="850392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58444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moteurs les plus urgents — test set NASA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396849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Moteur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76272" y="396849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prédit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13632" y="396849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réel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50992" y="39684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9480" y="3968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" y="4224528"/>
            <a:ext cx="850392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423367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76272" y="423367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913632" y="423367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50992" y="423367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69480" y="422452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0" name="Text 38"/>
          <p:cNvSpPr/>
          <p:nvPr/>
        </p:nvSpPr>
        <p:spPr>
          <a:xfrm>
            <a:off x="7269480" y="422452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9184" y="4315968"/>
            <a:ext cx="8503920" cy="91440"/>
          </a:xfrm>
          <a:prstGeom prst="rect">
            <a:avLst/>
          </a:prstGeom>
          <a:solidFill>
            <a:srgbClr val="0D1624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432511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76272" y="432511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13632" y="432511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50992" y="432511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-5.7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69480" y="431596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7" name="Text 45"/>
          <p:cNvSpPr/>
          <p:nvPr/>
        </p:nvSpPr>
        <p:spPr>
          <a:xfrm>
            <a:off x="7269480" y="431596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9184" y="4407408"/>
            <a:ext cx="850392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9" name="Text 47"/>
          <p:cNvSpPr/>
          <p:nvPr/>
        </p:nvSpPr>
        <p:spPr>
          <a:xfrm>
            <a:off x="438912" y="441655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176272" y="441655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913632" y="441655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50992" y="441655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-6.9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69480" y="440740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4" name="Text 52"/>
          <p:cNvSpPr/>
          <p:nvPr/>
        </p:nvSpPr>
        <p:spPr>
          <a:xfrm>
            <a:off x="7269480" y="440740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9184" y="4498848"/>
            <a:ext cx="8503920" cy="91440"/>
          </a:xfrm>
          <a:prstGeom prst="rect">
            <a:avLst/>
          </a:prstGeom>
          <a:solidFill>
            <a:srgbClr val="0D1624"/>
          </a:solidFill>
          <a:ln/>
        </p:spPr>
      </p:sp>
      <p:sp>
        <p:nvSpPr>
          <p:cNvPr id="56" name="Text 54"/>
          <p:cNvSpPr/>
          <p:nvPr/>
        </p:nvSpPr>
        <p:spPr>
          <a:xfrm>
            <a:off x="438912" y="450799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176272" y="450799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913632" y="450799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650992" y="450799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269480" y="449884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1" name="Text 59"/>
          <p:cNvSpPr/>
          <p:nvPr/>
        </p:nvSpPr>
        <p:spPr>
          <a:xfrm>
            <a:off x="7269480" y="449884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9184" y="4590288"/>
            <a:ext cx="850392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3" name="Text 61"/>
          <p:cNvSpPr/>
          <p:nvPr/>
        </p:nvSpPr>
        <p:spPr>
          <a:xfrm>
            <a:off x="438912" y="459943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176272" y="459943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913632" y="459943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650992" y="459943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269480" y="459028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8" name="Text 66"/>
          <p:cNvSpPr/>
          <p:nvPr/>
        </p:nvSpPr>
        <p:spPr>
          <a:xfrm>
            <a:off x="7269480" y="459028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29184" y="4681728"/>
            <a:ext cx="8503920" cy="91440"/>
          </a:xfrm>
          <a:prstGeom prst="rect">
            <a:avLst/>
          </a:prstGeom>
          <a:solidFill>
            <a:srgbClr val="0D1624"/>
          </a:solidFill>
          <a:ln/>
        </p:spPr>
      </p:sp>
      <p:sp>
        <p:nvSpPr>
          <p:cNvPr id="70" name="Text 68"/>
          <p:cNvSpPr/>
          <p:nvPr/>
        </p:nvSpPr>
        <p:spPr>
          <a:xfrm>
            <a:off x="438912" y="469087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176272" y="469087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913632" y="469087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650992" y="469087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-12.9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269480" y="468172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5" name="Text 73"/>
          <p:cNvSpPr/>
          <p:nvPr/>
        </p:nvSpPr>
        <p:spPr>
          <a:xfrm>
            <a:off x="7269480" y="468172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29184" y="4773168"/>
            <a:ext cx="850392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7" name="Text 75"/>
          <p:cNvSpPr/>
          <p:nvPr/>
        </p:nvSpPr>
        <p:spPr>
          <a:xfrm>
            <a:off x="438912" y="478231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176272" y="478231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913632" y="478231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650992" y="478231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-1.9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269480" y="477316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2" name="Text 80"/>
          <p:cNvSpPr/>
          <p:nvPr/>
        </p:nvSpPr>
        <p:spPr>
          <a:xfrm>
            <a:off x="7269480" y="477316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29184" y="4864608"/>
            <a:ext cx="8503920" cy="91440"/>
          </a:xfrm>
          <a:prstGeom prst="rect">
            <a:avLst/>
          </a:prstGeom>
          <a:solidFill>
            <a:srgbClr val="0D1624"/>
          </a:solidFill>
          <a:ln/>
        </p:spPr>
      </p:sp>
      <p:sp>
        <p:nvSpPr>
          <p:cNvPr id="84" name="Text 82"/>
          <p:cNvSpPr/>
          <p:nvPr/>
        </p:nvSpPr>
        <p:spPr>
          <a:xfrm>
            <a:off x="438912" y="487375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176272" y="487375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3913632" y="487375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650992" y="487375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-1.9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269480" y="486460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9" name="Text 87"/>
          <p:cNvSpPr/>
          <p:nvPr/>
        </p:nvSpPr>
        <p:spPr>
          <a:xfrm>
            <a:off x="7269480" y="486460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29184" y="4956048"/>
            <a:ext cx="850392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1" name="Text 89"/>
          <p:cNvSpPr/>
          <p:nvPr/>
        </p:nvSpPr>
        <p:spPr>
          <a:xfrm>
            <a:off x="438912" y="496519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176272" y="496519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913632" y="496519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650992" y="496519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269480" y="495604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6" name="Text 94"/>
          <p:cNvSpPr/>
          <p:nvPr/>
        </p:nvSpPr>
        <p:spPr>
          <a:xfrm>
            <a:off x="7269480" y="495604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29184" y="5047488"/>
            <a:ext cx="8503920" cy="91440"/>
          </a:xfrm>
          <a:prstGeom prst="rect">
            <a:avLst/>
          </a:prstGeom>
          <a:solidFill>
            <a:srgbClr val="0D1624"/>
          </a:solidFill>
          <a:ln/>
        </p:spPr>
      </p:sp>
      <p:sp>
        <p:nvSpPr>
          <p:cNvPr id="98" name="Text 96"/>
          <p:cNvSpPr/>
          <p:nvPr/>
        </p:nvSpPr>
        <p:spPr>
          <a:xfrm>
            <a:off x="438912" y="505663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2176272" y="505663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3913632" y="505663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650992" y="505663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7269480" y="5047488"/>
            <a:ext cx="141732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3" name="Text 101"/>
          <p:cNvSpPr/>
          <p:nvPr/>
        </p:nvSpPr>
        <p:spPr>
          <a:xfrm>
            <a:off x="7269480" y="5047488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53035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RECOMMANDATIONS &amp; AXES D'AMÉLIORATION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fait, ce qui peut être amélioré, et comment industrialiser.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" y="1115568"/>
            <a:ext cx="8503920" cy="120700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115568"/>
            <a:ext cx="850392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" y="1115568"/>
            <a:ext cx="8503920" cy="34747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61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— Déploiement opérationnel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 dashboard 3 niveaux dans le système de monitoring de flotte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15544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automatiquement une alerte pour tout moteur CRITIQUE (RUL ≤ 30)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les techniciens à lire les sorties SHAP pour décisions de terrain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2432304"/>
            <a:ext cx="8503920" cy="120700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" y="2432304"/>
            <a:ext cx="850392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" y="2432304"/>
            <a:ext cx="8503920" cy="347472"/>
          </a:xfrm>
          <a:prstGeom prst="rect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780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 — Améliorer le modèle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7121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par moteur (MinMaxScaler per unit_nr) — limite actuelle identifiée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87121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des fenêtres rolling 10 et 15 cycles — potentiel d'amélioration RMSE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23697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sur FD001, FD003, FD004 pour tester la robustesse aux autres configurations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" y="3749040"/>
            <a:ext cx="8503920" cy="120700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" y="3749040"/>
            <a:ext cx="850392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" y="3749040"/>
            <a:ext cx="8503920" cy="347472"/>
          </a:xfrm>
          <a:prstGeom prst="rect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94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 — Industrialisation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8795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LSTM ou Transformer pour capturer les dépendances temporelles longues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418795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Docker pour déploiement production et intégration système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5537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réentraînement automatique sur nouvelles données capteurs terrain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1280160"/>
            <a:ext cx="8997696" cy="731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304" y="2560320"/>
            <a:ext cx="8997696" cy="731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6304" y="3840480"/>
            <a:ext cx="8997696" cy="731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projet démontre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9184" y="6583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maîtrise complète du cycle ML industriel.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9184" y="1234440"/>
            <a:ext cx="4114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" y="13898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081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end-to-end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6276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Feature Eng. → Modèles → Évaluation → SHAP → Dashboard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2048256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06654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modèles comparés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22860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baseline + XGBoost optimisé — RMSE −2.6%, MAE −4.6%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" y="2706624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72491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sur 3 niveaux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94436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Test NASA · Cross-val 5-fold · NASA Score PHM 2008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" y="3364992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38328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complète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6027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Bar + Beeswarm + Waterfall — chaque prédiction est expliquée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" y="4023360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0416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opérationnel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426110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niveaux, top critiques, recommandations actionnables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1353312"/>
            <a:ext cx="36576" cy="3429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13898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73168" y="1810512"/>
            <a:ext cx="1005840" cy="3108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1810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70448" y="184708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Random Forest · Régression supervisée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340864"/>
            <a:ext cx="1005840" cy="31089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2340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70448" y="237744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Cap · Rolling Mean · Filtrage variance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2871216"/>
            <a:ext cx="1005840" cy="310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28712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ML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70448" y="290779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R² · KFold · NASA Score PHM 2008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401568"/>
            <a:ext cx="1005840" cy="3108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34015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70448" y="343814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· Bar · Beeswarm · Waterfall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3931920"/>
            <a:ext cx="100584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4" name="Text 42"/>
          <p:cNvSpPr/>
          <p:nvPr/>
        </p:nvSpPr>
        <p:spPr>
          <a:xfrm>
            <a:off x="4773168" y="3931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70448" y="3968496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Scikit-learn · XGBoost · Matplotlib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73168" y="4462272"/>
            <a:ext cx="1005840" cy="3108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44622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70448" y="449884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data leakage · Clipping IQR · Analyse critique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50" name="Text 48"/>
          <p:cNvSpPr/>
          <p:nvPr/>
        </p:nvSpPr>
        <p:spPr>
          <a:xfrm>
            <a:off x="329184" y="4846320"/>
            <a:ext cx="8503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Analytics  ·  Université Paris 1 Panthéon-Sorbonne  ·  NASA C-MAPSS FD002  ·  Maintenance Prédictive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2026-03-16T23:54:43Z</dcterms:created>
  <dcterms:modified xsi:type="dcterms:W3CDTF">2026-03-16T23:54:43Z</dcterms:modified>
</cp:coreProperties>
</file>